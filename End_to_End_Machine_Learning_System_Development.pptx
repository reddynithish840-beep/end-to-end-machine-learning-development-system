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4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Reg.</c:v>
                </c:pt>
                <c:pt idx="1">
                  <c:v>Random Forest</c:v>
                </c:pt>
                <c:pt idx="2">
                  <c:v>Gradient Boosting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0.54</c:v>
                </c:pt>
                <c:pt idx="1">
                  <c:v>0.66</c:v>
                </c:pt>
                <c:pt idx="2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D8-4AE9-9E77-63C52E72966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Reg.</c:v>
                </c:pt>
                <c:pt idx="1">
                  <c:v>Random Forest</c:v>
                </c:pt>
                <c:pt idx="2">
                  <c:v>Gradient Boosting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0.78</c:v>
                </c:pt>
                <c:pt idx="1">
                  <c:v>0.81</c:v>
                </c:pt>
                <c:pt idx="2">
                  <c:v>0.79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7D8-4AE9-9E77-63C52E72966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Reg.</c:v>
                </c:pt>
                <c:pt idx="1">
                  <c:v>Random Forest</c:v>
                </c:pt>
                <c:pt idx="2">
                  <c:v>Gradient Boosting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0.64</c:v>
                </c:pt>
                <c:pt idx="1">
                  <c:v>0.73</c:v>
                </c:pt>
                <c:pt idx="2">
                  <c:v>0.74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7D8-4AE9-9E77-63C52E72966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068027336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Drift score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Wk 1</c:v>
                </c:pt>
                <c:pt idx="1">
                  <c:v>Wk 2</c:v>
                </c:pt>
                <c:pt idx="2">
                  <c:v>Wk 3</c:v>
                </c:pt>
                <c:pt idx="3">
                  <c:v>Wk 4</c:v>
                </c:pt>
                <c:pt idx="4">
                  <c:v>Wk 5</c:v>
                </c:pt>
                <c:pt idx="5">
                  <c:v>Wk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0.08</c:v>
                </c:pt>
                <c:pt idx="1">
                  <c:v>0.1</c:v>
                </c:pt>
                <c:pt idx="2">
                  <c:v>0.12</c:v>
                </c:pt>
                <c:pt idx="3">
                  <c:v>0.16</c:v>
                </c:pt>
                <c:pt idx="4">
                  <c:v>0.24</c:v>
                </c:pt>
                <c:pt idx="5">
                  <c:v>0.31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A97-4C53-8AC8-26DE1B42A8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0.4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  <c:majorUnit val="0.1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2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94360"/>
            <a:ext cx="7223760" cy="38404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500" b="1">
                <a:solidFill>
                  <a:srgbClr val="37B8DC"/>
                </a:solidFill>
                <a:latin typeface="Aptos"/>
              </a:defRPr>
            </a:pPr>
            <a:r>
              <a:t>DATA SCIENCE • MACHINE LEARNING • MLOPS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7406640" cy="1417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END-TO-END MACHINE</a:t>
            </a:r>
            <a:br/>
            <a:r>
              <a:t>LEARNING SYSTEM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971800"/>
            <a:ext cx="6766560" cy="65836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100" b="1">
                <a:solidFill>
                  <a:srgbClr val="D6E5F8"/>
                </a:solidFill>
                <a:latin typeface="Aptos"/>
              </a:defRPr>
            </a:pPr>
            <a:r>
              <a:t>Deployment, Monitoring and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767328"/>
            <a:ext cx="6583680" cy="7772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A practical fraud-detection project that takes a model from raw data to a monitored, deployable service.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778240" y="1737360"/>
            <a:ext cx="1188720" cy="731520"/>
          </a:xfrm>
          <a:prstGeom prst="line">
            <a:avLst/>
          </a:prstGeom>
          <a:ln w="38100">
            <a:solidFill>
              <a:srgbClr val="37B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9966960" y="1737360"/>
            <a:ext cx="1143000" cy="731520"/>
          </a:xfrm>
          <a:prstGeom prst="line">
            <a:avLst/>
          </a:prstGeom>
          <a:ln w="38100">
            <a:solidFill>
              <a:srgbClr val="37B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778240" y="1737360"/>
            <a:ext cx="0" cy="1737360"/>
          </a:xfrm>
          <a:prstGeom prst="line">
            <a:avLst/>
          </a:prstGeom>
          <a:ln w="38100">
            <a:solidFill>
              <a:srgbClr val="37B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778240" y="3474720"/>
            <a:ext cx="1188720" cy="731520"/>
          </a:xfrm>
          <a:prstGeom prst="line">
            <a:avLst/>
          </a:prstGeom>
          <a:ln w="38100">
            <a:solidFill>
              <a:srgbClr val="37B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9966960" y="3474720"/>
            <a:ext cx="1143000" cy="731520"/>
          </a:xfrm>
          <a:prstGeom prst="line">
            <a:avLst/>
          </a:prstGeom>
          <a:ln w="38100">
            <a:solidFill>
              <a:srgbClr val="37B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966960" y="2468880"/>
            <a:ext cx="0" cy="1737360"/>
          </a:xfrm>
          <a:prstGeom prst="line">
            <a:avLst/>
          </a:prstGeom>
          <a:ln w="38100">
            <a:solidFill>
              <a:srgbClr val="37B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109960" y="1737360"/>
            <a:ext cx="0" cy="1737360"/>
          </a:xfrm>
          <a:prstGeom prst="line">
            <a:avLst/>
          </a:prstGeom>
          <a:ln w="38100">
            <a:solidFill>
              <a:srgbClr val="37B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458200" y="1417320"/>
            <a:ext cx="658368" cy="658368"/>
          </a:xfrm>
          <a:prstGeom prst="ellipse">
            <a:avLst/>
          </a:prstGeom>
          <a:solidFill>
            <a:srgbClr val="2A7AD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77072" y="1591056"/>
            <a:ext cx="41148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9646920" y="2148840"/>
            <a:ext cx="658368" cy="658368"/>
          </a:xfrm>
          <a:prstGeom prst="ellipse">
            <a:avLst/>
          </a:prstGeom>
          <a:solidFill>
            <a:srgbClr val="7B56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65792" y="2322576"/>
            <a:ext cx="41148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0789920" y="1417320"/>
            <a:ext cx="658368" cy="658368"/>
          </a:xfrm>
          <a:prstGeom prst="ellipse">
            <a:avLst/>
          </a:prstGeom>
          <a:solidFill>
            <a:srgbClr val="37B8D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08792" y="1591056"/>
            <a:ext cx="41148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8458200" y="3154680"/>
            <a:ext cx="658368" cy="658368"/>
          </a:xfrm>
          <a:prstGeom prst="ellipse">
            <a:avLst/>
          </a:prstGeom>
          <a:solidFill>
            <a:srgbClr val="2AA07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77072" y="3328416"/>
            <a:ext cx="41148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9646920" y="3886200"/>
            <a:ext cx="658368" cy="658368"/>
          </a:xfrm>
          <a:prstGeom prst="ellipse">
            <a:avLst/>
          </a:prstGeom>
          <a:solidFill>
            <a:srgbClr val="EB913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65792" y="4059936"/>
            <a:ext cx="41148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10789920" y="3154680"/>
            <a:ext cx="658368" cy="658368"/>
          </a:xfrm>
          <a:prstGeom prst="ellipse">
            <a:avLst/>
          </a:prstGeom>
          <a:solidFill>
            <a:srgbClr val="DC4B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08792" y="3328416"/>
            <a:ext cx="41148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623560"/>
            <a:ext cx="1508760" cy="384048"/>
          </a:xfrm>
          <a:prstGeom prst="roundRect">
            <a:avLst/>
          </a:prstGeom>
          <a:solidFill>
            <a:srgbClr val="2A7ADA"/>
          </a:solidFill>
          <a:ln>
            <a:solidFill>
              <a:srgbClr val="2A7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2376" y="5715000"/>
            <a:ext cx="1435608" cy="15544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77440" y="5623560"/>
            <a:ext cx="1508760" cy="384048"/>
          </a:xfrm>
          <a:prstGeom prst="roundRect">
            <a:avLst/>
          </a:prstGeom>
          <a:solidFill>
            <a:srgbClr val="2AA073"/>
          </a:solidFill>
          <a:ln>
            <a:solidFill>
              <a:srgbClr val="2AA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414016" y="5715000"/>
            <a:ext cx="1435608" cy="15544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Scikit-learn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69080" y="5623560"/>
            <a:ext cx="1508760" cy="384048"/>
          </a:xfrm>
          <a:prstGeom prst="roundRect">
            <a:avLst/>
          </a:prstGeom>
          <a:solidFill>
            <a:srgbClr val="7B56C9"/>
          </a:solidFill>
          <a:ln>
            <a:solidFill>
              <a:srgbClr val="7B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05656" y="5715000"/>
            <a:ext cx="1435608" cy="15544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FastAPI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720" y="5623560"/>
            <a:ext cx="1508760" cy="384048"/>
          </a:xfrm>
          <a:prstGeom prst="roundRect">
            <a:avLst/>
          </a:prstGeom>
          <a:solidFill>
            <a:srgbClr val="37B8DC"/>
          </a:solidFill>
          <a:ln>
            <a:solidFill>
              <a:srgbClr val="37B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797296" y="5715000"/>
            <a:ext cx="1435608" cy="15544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000" b="1">
                <a:solidFill>
                  <a:srgbClr val="11224C"/>
                </a:solidFill>
                <a:latin typeface="Aptos"/>
              </a:defRPr>
            </a:pPr>
            <a:r>
              <a:t>Docker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52360" y="5623560"/>
            <a:ext cx="1508760" cy="384048"/>
          </a:xfrm>
          <a:prstGeom prst="roundRect">
            <a:avLst/>
          </a:prstGeom>
          <a:solidFill>
            <a:srgbClr val="EB9134"/>
          </a:solidFill>
          <a:ln>
            <a:solidFill>
              <a:srgbClr val="EB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88936" y="5715000"/>
            <a:ext cx="1435608" cy="15544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GitHub Actions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6236208"/>
            <a:ext cx="7315200" cy="1828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000" b="0">
                <a:solidFill>
                  <a:srgbClr val="C9DAF3"/>
                </a:solidFill>
                <a:latin typeface="Aptos"/>
              </a:defRPr>
            </a:pPr>
            <a:r>
              <a:t>Portfolio project for a fresher • Replace example metrics with your measured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24C"/>
          </a:solidFill>
          <a:ln>
            <a:solidFill>
              <a:srgbClr val="112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37160"/>
            <a:ext cx="54864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600" b="1">
                <a:solidFill>
                  <a:srgbClr val="37B8D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11480"/>
            <a:ext cx="11155680" cy="43891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Problem Statement &amp; 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06424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100" b="0">
                <a:solidFill>
                  <a:srgbClr val="DAE6F8"/>
                </a:solidFill>
                <a:latin typeface="Aptos"/>
              </a:defRPr>
            </a:pPr>
            <a:r>
              <a:t>Use case: identify suspicious payment transactions and support timely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11155680" cy="16459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00" b="1">
                <a:solidFill>
                  <a:srgbClr val="5E6E85"/>
                </a:solidFill>
                <a:latin typeface="Aptos"/>
              </a:defRPr>
            </a:pPr>
            <a:r>
              <a:t>END-TO-END MACHINE LEARNING SYSTEM  •  DEPLOYMENT  •  MONITORING  • 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537960"/>
            <a:ext cx="228600" cy="1828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900" b="1">
                <a:solidFill>
                  <a:srgbClr val="5E6E8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3949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82296" cy="2240280"/>
          </a:xfrm>
          <a:prstGeom prst="rect">
            <a:avLst/>
          </a:prstGeom>
          <a:solidFill>
            <a:srgbClr val="2A7ADA"/>
          </a:solidFill>
          <a:ln>
            <a:solidFill>
              <a:srgbClr val="2A7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1581912"/>
            <a:ext cx="502920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700" b="1">
                <a:solidFill>
                  <a:srgbClr val="11224C"/>
                </a:solidFill>
                <a:latin typeface="Aptos"/>
              </a:defRPr>
            </a:pPr>
            <a:r>
              <a:t>BUSINESS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984248"/>
            <a:ext cx="5010912" cy="158191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600" b="0">
                <a:solidFill>
                  <a:srgbClr val="25334A"/>
                </a:solidFill>
                <a:latin typeface="Aptos"/>
              </a:defRPr>
            </a:pPr>
            <a:r>
              <a:t>Payment providers must detect fraud without incorrectly blocking too many genuine transactions.</a:t>
            </a:r>
            <a:br/>
            <a:br/>
            <a:r>
              <a:t>The model estimates a risk score; a business rule routes high-risk cases for review.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4406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82296" cy="2240280"/>
          </a:xfrm>
          <a:prstGeom prst="rect">
            <a:avLst/>
          </a:prstGeom>
          <a:solidFill>
            <a:srgbClr val="2AA073"/>
          </a:solidFill>
          <a:ln>
            <a:solidFill>
              <a:srgbClr val="2AA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581912"/>
            <a:ext cx="507492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700" b="1">
                <a:solidFill>
                  <a:srgbClr val="11224C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984248"/>
            <a:ext cx="5056632" cy="158191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500" b="0">
                <a:solidFill>
                  <a:srgbClr val="25334A"/>
                </a:solidFill>
                <a:latin typeface="Aptos"/>
              </a:defRPr>
            </a:pPr>
            <a:r>
              <a:t>1. Explore and prepare a public fraud dataset.</a:t>
            </a:r>
            <a:br/>
            <a:r>
              <a:t>2. Train and compare classification models.</a:t>
            </a:r>
            <a:br/>
            <a:r>
              <a:t>3. Evaluate precision, recall and PR-AUC.</a:t>
            </a:r>
            <a:br/>
            <a:r>
              <a:t>4. Deploy predictions through an API.</a:t>
            </a:r>
            <a:br/>
            <a:r>
              <a:t>5. Monitor drift, latency and errors.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977639"/>
            <a:ext cx="11155680" cy="1508760"/>
          </a:xfrm>
          <a:prstGeom prst="roundRect">
            <a:avLst/>
          </a:prstGeom>
          <a:solidFill>
            <a:srgbClr val="FFF7EB"/>
          </a:solidFill>
          <a:ln>
            <a:solidFill>
              <a:srgbClr val="F5D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224528"/>
            <a:ext cx="283464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800" b="1">
                <a:solidFill>
                  <a:srgbClr val="8B5313"/>
                </a:solidFill>
                <a:latin typeface="Aptos"/>
              </a:defRPr>
            </a:pPr>
            <a:r>
              <a:t>Why this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17720"/>
            <a:ext cx="10424160" cy="5943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600" b="0">
                <a:solidFill>
                  <a:srgbClr val="25334A"/>
                </a:solidFill>
                <a:latin typeface="Aptos"/>
              </a:defRPr>
            </a:pPr>
            <a:r>
              <a:t>Fraud datasets are usually imbalanced. A model can show high accuracy while missing many fraud cases, so evaluation must focus on the business cost of missed fraud and false alarms.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78992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400" b="1">
                <a:solidFill>
                  <a:srgbClr val="11224C"/>
                </a:solidFill>
                <a:latin typeface="Aptos"/>
              </a:defRPr>
            </a:pPr>
            <a:r>
              <a:t>Success means a reproducible, tested service—not just a notebook with a trained 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24C"/>
          </a:solidFill>
          <a:ln>
            <a:solidFill>
              <a:srgbClr val="112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37160"/>
            <a:ext cx="54864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600" b="1">
                <a:solidFill>
                  <a:srgbClr val="37B8D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11480"/>
            <a:ext cx="11155680" cy="43891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Dataset &amp; Data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06424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100" b="0">
                <a:solidFill>
                  <a:srgbClr val="DAE6F8"/>
                </a:solidFill>
                <a:latin typeface="Aptos"/>
              </a:defRPr>
            </a:pPr>
            <a:r>
              <a:t>Use a public dataset and cite the exact source in your GitHub README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11155680" cy="16459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00" b="1">
                <a:solidFill>
                  <a:srgbClr val="5E6E85"/>
                </a:solidFill>
                <a:latin typeface="Aptos"/>
              </a:defRPr>
            </a:pPr>
            <a:r>
              <a:t>END-TO-END MACHINE LEARNING SYSTEM  •  DEPLOYMENT  •  MONITORING  • 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537960"/>
            <a:ext cx="228600" cy="1828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900" b="1">
                <a:solidFill>
                  <a:srgbClr val="5E6E8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32918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82296" cy="1828800"/>
          </a:xfrm>
          <a:prstGeom prst="rect">
            <a:avLst/>
          </a:prstGeom>
          <a:solidFill>
            <a:srgbClr val="7B56C9"/>
          </a:solidFill>
          <a:ln>
            <a:solidFill>
              <a:srgbClr val="7B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1536192"/>
            <a:ext cx="292608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700" b="1">
                <a:solidFill>
                  <a:srgbClr val="11224C"/>
                </a:solidFill>
                <a:latin typeface="Aptos"/>
              </a:defRPr>
            </a:pPr>
            <a:r>
              <a:t>DATA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938528"/>
            <a:ext cx="2907792" cy="117043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400" b="0">
                <a:solidFill>
                  <a:srgbClr val="25334A"/>
                </a:solidFill>
                <a:latin typeface="Aptos"/>
              </a:defRPr>
            </a:pPr>
            <a:r>
              <a:t>Public credit-card fraud dataset from Kaggle or an open research repository.</a:t>
            </a:r>
            <a:br/>
            <a:br/>
            <a:r>
              <a:t>Check license, source notes and target-label definition.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29000"/>
            <a:ext cx="3291840" cy="2057400"/>
          </a:xfrm>
          <a:prstGeom prst="roundRect">
            <a:avLst/>
          </a:prstGeom>
          <a:solidFill>
            <a:srgbClr val="ECF9F3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3429000"/>
            <a:ext cx="82296" cy="2057400"/>
          </a:xfrm>
          <a:prstGeom prst="rect">
            <a:avLst/>
          </a:prstGeom>
          <a:solidFill>
            <a:srgbClr val="2AA073"/>
          </a:solidFill>
          <a:ln>
            <a:solidFill>
              <a:srgbClr val="2AA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" y="3593592"/>
            <a:ext cx="292608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700" b="1">
                <a:solidFill>
                  <a:srgbClr val="11224C"/>
                </a:solidFill>
                <a:latin typeface="Aptos"/>
              </a:defRPr>
            </a:pPr>
            <a:r>
              <a:t>QUALITY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995928"/>
            <a:ext cx="2907792" cy="139903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400" b="0">
                <a:solidFill>
                  <a:srgbClr val="25334A"/>
                </a:solidFill>
                <a:latin typeface="Aptos"/>
              </a:defRPr>
            </a:pPr>
            <a:r>
              <a:t>• Missing values and duplicates</a:t>
            </a:r>
            <a:br/>
            <a:r>
              <a:t>• Class imbalance</a:t>
            </a:r>
            <a:br/>
            <a:r>
              <a:t>• Feature ranges and outliers</a:t>
            </a:r>
            <a:br/>
            <a:r>
              <a:t>• Data leakage</a:t>
            </a:r>
            <a:br/>
            <a:r>
              <a:t>• Train/test split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1417320"/>
            <a:ext cx="713232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800" b="1">
                <a:solidFill>
                  <a:srgbClr val="11224C"/>
                </a:solidFill>
                <a:latin typeface="Aptos"/>
              </a:defRPr>
            </a:pPr>
            <a:r>
              <a:t>Example feature dictionary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114800" y="1874519"/>
          <a:ext cx="74066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224C"/>
                          </a:solidFill>
                          <a:latin typeface="Aptos"/>
                        </a:defRPr>
                      </a:pPr>
                      <a:r>
                        <a:t>Feature</a:t>
                      </a:r>
                    </a:p>
                  </a:txBody>
                  <a:tcPr marR="7315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224C"/>
                          </a:solidFill>
                          <a:latin typeface="Aptos"/>
                        </a:defRPr>
                      </a:pPr>
                      <a:r>
                        <a:t>Meaning</a:t>
                      </a:r>
                    </a:p>
                  </a:txBody>
                  <a:tcPr marR="7315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224C"/>
                          </a:solidFill>
                          <a:latin typeface="Aptos"/>
                        </a:defRPr>
                      </a:pPr>
                      <a:r>
                        <a:t>Type</a:t>
                      </a:r>
                    </a:p>
                  </a:txBody>
                  <a:tcPr marR="73152"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34A"/>
                          </a:solidFill>
                          <a:latin typeface="Aptos"/>
                        </a:defRPr>
                      </a:pPr>
                      <a:r>
                        <a:t>Amount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34A"/>
                          </a:solidFill>
                          <a:latin typeface="Aptos"/>
                        </a:defRPr>
                      </a:pPr>
                      <a:r>
                        <a:t>Transaction value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34A"/>
                          </a:solidFill>
                          <a:latin typeface="Aptos"/>
                        </a:defRPr>
                      </a:pPr>
                      <a:r>
                        <a:t>Numeric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34A"/>
                          </a:solidFill>
                          <a:latin typeface="Aptos"/>
                        </a:defRPr>
                      </a:pPr>
                      <a:r>
                        <a:t>Time</a:t>
                      </a:r>
                    </a:p>
                  </a:txBody>
                  <a:tcPr marR="73152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34A"/>
                          </a:solidFill>
                          <a:latin typeface="Aptos"/>
                        </a:defRPr>
                      </a:pPr>
                      <a:r>
                        <a:t>Relative transaction time</a:t>
                      </a:r>
                    </a:p>
                  </a:txBody>
                  <a:tcPr marR="73152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34A"/>
                          </a:solidFill>
                          <a:latin typeface="Aptos"/>
                        </a:defRPr>
                      </a:pPr>
                      <a:r>
                        <a:t>Numeric</a:t>
                      </a:r>
                    </a:p>
                  </a:txBody>
                  <a:tcPr marR="73152"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34A"/>
                          </a:solidFill>
                          <a:latin typeface="Aptos"/>
                        </a:defRPr>
                      </a:pPr>
                      <a:r>
                        <a:t>V1–V28 / signals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34A"/>
                          </a:solidFill>
                          <a:latin typeface="Aptos"/>
                        </a:defRPr>
                      </a:pPr>
                      <a:r>
                        <a:t>Anonymized patterns or engineered signals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34A"/>
                          </a:solidFill>
                          <a:latin typeface="Aptos"/>
                        </a:defRPr>
                      </a:pPr>
                      <a:r>
                        <a:t>Numeric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34A"/>
                          </a:solidFill>
                          <a:latin typeface="Aptos"/>
                        </a:defRPr>
                      </a:pPr>
                      <a:r>
                        <a:t>Class / label</a:t>
                      </a:r>
                    </a:p>
                  </a:txBody>
                  <a:tcPr marR="73152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34A"/>
                          </a:solidFill>
                          <a:latin typeface="Aptos"/>
                        </a:defRPr>
                      </a:pPr>
                      <a:r>
                        <a:t>Fraud (1) or genuine (0)</a:t>
                      </a:r>
                    </a:p>
                  </a:txBody>
                  <a:tcPr marR="73152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34A"/>
                          </a:solidFill>
                          <a:latin typeface="Aptos"/>
                        </a:defRPr>
                      </a:pPr>
                      <a:r>
                        <a:t>Target</a:t>
                      </a:r>
                    </a:p>
                  </a:txBody>
                  <a:tcPr marR="73152"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160520" y="5257800"/>
            <a:ext cx="7223760" cy="5029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300" b="1">
                <a:solidFill>
                  <a:srgbClr val="DC4B59"/>
                </a:solidFill>
                <a:latin typeface="Aptos"/>
              </a:defRPr>
            </a:pPr>
            <a:r>
              <a:t>Avoid leakage: fit preprocessing only on training data and keep the test set untouched until final evaluation.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24C"/>
          </a:solidFill>
          <a:ln>
            <a:solidFill>
              <a:srgbClr val="112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37160"/>
            <a:ext cx="54864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600" b="1">
                <a:solidFill>
                  <a:srgbClr val="37B8D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11480"/>
            <a:ext cx="11155680" cy="43891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Machine Learning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06424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100" b="0">
                <a:solidFill>
                  <a:srgbClr val="DAE6F8"/>
                </a:solidFill>
                <a:latin typeface="Aptos"/>
              </a:defRPr>
            </a:pPr>
            <a:r>
              <a:t>A reliable workflow connects model development with production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11155680" cy="16459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00" b="1">
                <a:solidFill>
                  <a:srgbClr val="5E6E85"/>
                </a:solidFill>
                <a:latin typeface="Aptos"/>
              </a:defRPr>
            </a:pPr>
            <a:r>
              <a:t>END-TO-END MACHINE LEARNING SYSTEM  •  DEPLOYMENT  •  MONITORING  • 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537960"/>
            <a:ext cx="228600" cy="1828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900" b="1">
                <a:solidFill>
                  <a:srgbClr val="5E6E8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194560"/>
            <a:ext cx="1444752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60" y="2450592"/>
            <a:ext cx="621792" cy="621792"/>
          </a:xfrm>
          <a:prstGeom prst="roundRect">
            <a:avLst/>
          </a:prstGeom>
          <a:solidFill>
            <a:srgbClr val="2A7ADA"/>
          </a:solidFill>
          <a:ln>
            <a:solidFill>
              <a:srgbClr val="2A7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633472"/>
            <a:ext cx="530352" cy="1828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246120"/>
            <a:ext cx="1298448" cy="29260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200" b="1">
                <a:solidFill>
                  <a:srgbClr val="11224C"/>
                </a:solidFill>
                <a:latin typeface="Aptos"/>
              </a:defRPr>
            </a:pPr>
            <a:r>
              <a:t>Collect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3611880"/>
            <a:ext cx="1298448" cy="3657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000" b="0">
                <a:solidFill>
                  <a:srgbClr val="5E6E85"/>
                </a:solidFill>
                <a:latin typeface="Aptos"/>
              </a:defRPr>
            </a:pPr>
            <a:r>
              <a:t>Source + schema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56232" y="2852928"/>
            <a:ext cx="22860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800" b="1">
                <a:solidFill>
                  <a:srgbClr val="2A7AD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84832" y="2194560"/>
            <a:ext cx="1444752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496312" y="2450592"/>
            <a:ext cx="621792" cy="621792"/>
          </a:xfrm>
          <a:prstGeom prst="roundRect">
            <a:avLst/>
          </a:prstGeom>
          <a:solidFill>
            <a:srgbClr val="7B56C9"/>
          </a:solidFill>
          <a:ln>
            <a:solidFill>
              <a:srgbClr val="7B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42032" y="2633472"/>
            <a:ext cx="530352" cy="1828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57984" y="3246120"/>
            <a:ext cx="1298448" cy="29260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200" b="1">
                <a:solidFill>
                  <a:srgbClr val="11224C"/>
                </a:solidFill>
                <a:latin typeface="Aptos"/>
              </a:defRPr>
            </a:pPr>
            <a:r>
              <a:t>Prepare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57984" y="3611880"/>
            <a:ext cx="1298448" cy="3657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000" b="0">
                <a:solidFill>
                  <a:srgbClr val="5E6E85"/>
                </a:solidFill>
                <a:latin typeface="Aptos"/>
              </a:defRPr>
            </a:pPr>
            <a:r>
              <a:t>Clean + transform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2852928"/>
            <a:ext cx="22860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800" b="1">
                <a:solidFill>
                  <a:srgbClr val="2A7AD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58184" y="2194560"/>
            <a:ext cx="1444752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169664" y="2450592"/>
            <a:ext cx="621792" cy="621792"/>
          </a:xfrm>
          <a:prstGeom prst="roundRect">
            <a:avLst/>
          </a:prstGeom>
          <a:solidFill>
            <a:srgbClr val="37B8DC"/>
          </a:solidFill>
          <a:ln>
            <a:solidFill>
              <a:srgbClr val="37B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15384" y="2633472"/>
            <a:ext cx="530352" cy="1828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31336" y="3246120"/>
            <a:ext cx="1298448" cy="29260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200" b="1">
                <a:solidFill>
                  <a:srgbClr val="11224C"/>
                </a:solidFill>
                <a:latin typeface="Aptos"/>
              </a:defRPr>
            </a:pPr>
            <a:r>
              <a:t>Train models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31336" y="3611880"/>
            <a:ext cx="1298448" cy="3657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000" b="0">
                <a:solidFill>
                  <a:srgbClr val="5E6E85"/>
                </a:solidFill>
                <a:latin typeface="Aptos"/>
              </a:defRPr>
            </a:pPr>
            <a:r>
              <a:t>Baseline + candidates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2936" y="2852928"/>
            <a:ext cx="22860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800" b="1">
                <a:solidFill>
                  <a:srgbClr val="2A7AD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31536" y="2194560"/>
            <a:ext cx="1444752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843016" y="2450592"/>
            <a:ext cx="621792" cy="621792"/>
          </a:xfrm>
          <a:prstGeom prst="roundRect">
            <a:avLst/>
          </a:prstGeom>
          <a:solidFill>
            <a:srgbClr val="2AA073"/>
          </a:solidFill>
          <a:ln>
            <a:solidFill>
              <a:srgbClr val="2AA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88736" y="2633472"/>
            <a:ext cx="530352" cy="1828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04688" y="3246120"/>
            <a:ext cx="1298448" cy="29260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200" b="1">
                <a:solidFill>
                  <a:srgbClr val="11224C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04688" y="3611880"/>
            <a:ext cx="1298448" cy="3657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000" b="0">
                <a:solidFill>
                  <a:srgbClr val="5E6E85"/>
                </a:solidFill>
                <a:latin typeface="Aptos"/>
              </a:defRPr>
            </a:pPr>
            <a:r>
              <a:t>Metrics + threshold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2852928"/>
            <a:ext cx="22860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800" b="1">
                <a:solidFill>
                  <a:srgbClr val="2A7AD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04888" y="2194560"/>
            <a:ext cx="1444752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516368" y="2450592"/>
            <a:ext cx="621792" cy="621792"/>
          </a:xfrm>
          <a:prstGeom prst="roundRect">
            <a:avLst/>
          </a:prstGeom>
          <a:solidFill>
            <a:srgbClr val="EB9134"/>
          </a:solidFill>
          <a:ln>
            <a:solidFill>
              <a:srgbClr val="EB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62088" y="2633472"/>
            <a:ext cx="530352" cy="1828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3246120"/>
            <a:ext cx="1298448" cy="29260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200" b="1">
                <a:solidFill>
                  <a:srgbClr val="11224C"/>
                </a:solidFill>
                <a:latin typeface="Aptos"/>
              </a:defRPr>
            </a:pPr>
            <a:r>
              <a:t>Deploy 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3611880"/>
            <a:ext cx="1298448" cy="3657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000" b="0">
                <a:solidFill>
                  <a:srgbClr val="5E6E85"/>
                </a:solidFill>
                <a:latin typeface="Aptos"/>
              </a:defRPr>
            </a:pPr>
            <a:r>
              <a:t>FastAPI + Docker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9640" y="2852928"/>
            <a:ext cx="22860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800" b="1">
                <a:solidFill>
                  <a:srgbClr val="2A7AD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78240" y="2194560"/>
            <a:ext cx="1444752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189719" y="2450592"/>
            <a:ext cx="621792" cy="621792"/>
          </a:xfrm>
          <a:prstGeom prst="roundRect">
            <a:avLst/>
          </a:prstGeom>
          <a:solidFill>
            <a:srgbClr val="DC4B59"/>
          </a:solidFill>
          <a:ln>
            <a:solidFill>
              <a:srgbClr val="DC4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35440" y="2633472"/>
            <a:ext cx="530352" cy="1828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51392" y="3246120"/>
            <a:ext cx="1298448" cy="29260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200" b="1">
                <a:solidFill>
                  <a:srgbClr val="11224C"/>
                </a:solidFill>
                <a:latin typeface="Aptos"/>
              </a:defRPr>
            </a:pPr>
            <a:r>
              <a:t>Monitor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51392" y="3611880"/>
            <a:ext cx="1298448" cy="3657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000" b="0">
                <a:solidFill>
                  <a:srgbClr val="5E6E85"/>
                </a:solidFill>
                <a:latin typeface="Aptos"/>
              </a:defRPr>
            </a:pPr>
            <a:r>
              <a:t>Drift + latency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22992" y="2852928"/>
            <a:ext cx="22860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800" b="1">
                <a:solidFill>
                  <a:srgbClr val="2A7AD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451592" y="2194560"/>
            <a:ext cx="1444752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10863072" y="2450592"/>
            <a:ext cx="621792" cy="621792"/>
          </a:xfrm>
          <a:prstGeom prst="roundRect">
            <a:avLst/>
          </a:prstGeom>
          <a:solidFill>
            <a:srgbClr val="11224C"/>
          </a:solidFill>
          <a:ln>
            <a:solidFill>
              <a:srgbClr val="112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908792" y="2633472"/>
            <a:ext cx="530352" cy="1828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24744" y="3246120"/>
            <a:ext cx="1298448" cy="29260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200" b="1">
                <a:solidFill>
                  <a:srgbClr val="11224C"/>
                </a:solidFill>
                <a:latin typeface="Aptos"/>
              </a:defRPr>
            </a:pPr>
            <a:r>
              <a:t>Maintain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24744" y="3611880"/>
            <a:ext cx="1298448" cy="3657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000" b="0">
                <a:solidFill>
                  <a:srgbClr val="5E6E85"/>
                </a:solidFill>
                <a:latin typeface="Aptos"/>
              </a:defRPr>
            </a:pPr>
            <a:r>
              <a:t>Validate + rollback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5800" y="4709160"/>
            <a:ext cx="10835640" cy="868680"/>
          </a:xfrm>
          <a:prstGeom prst="roundRect">
            <a:avLst/>
          </a:prstGeom>
          <a:solidFill>
            <a:srgbClr val="EFF6FF"/>
          </a:solidFill>
          <a:ln>
            <a:solidFill>
              <a:srgbClr val="D7E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14400" y="4956048"/>
            <a:ext cx="1033272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500" b="1">
                <a:solidFill>
                  <a:srgbClr val="11224C"/>
                </a:solidFill>
                <a:latin typeface="Aptos"/>
              </a:defRPr>
            </a:pPr>
            <a:r>
              <a:t>Release rule: only promote a new model after tests pass and its performance is checked against the current version.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24C"/>
          </a:solidFill>
          <a:ln>
            <a:solidFill>
              <a:srgbClr val="112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37160"/>
            <a:ext cx="54864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600" b="1">
                <a:solidFill>
                  <a:srgbClr val="37B8D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11480"/>
            <a:ext cx="11155680" cy="43891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Model Evaluation &amp; Performance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06424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100" b="0">
                <a:solidFill>
                  <a:srgbClr val="DAE6F8"/>
                </a:solidFill>
                <a:latin typeface="Aptos"/>
              </a:defRPr>
            </a:pPr>
            <a:r>
              <a:t>The figures below are illustrative examples—not actual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11155680" cy="16459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00" b="1">
                <a:solidFill>
                  <a:srgbClr val="5E6E85"/>
                </a:solidFill>
                <a:latin typeface="Aptos"/>
              </a:defRPr>
            </a:pPr>
            <a:r>
              <a:t>END-TO-END MACHINE LEARNING SYSTEM  •  DEPLOYMENT  •  MONITORING  • 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537960"/>
            <a:ext cx="228600" cy="1828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900" b="1">
                <a:solidFill>
                  <a:srgbClr val="5E6E85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657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82296" cy="1920240"/>
          </a:xfrm>
          <a:prstGeom prst="rect">
            <a:avLst/>
          </a:prstGeom>
          <a:solidFill>
            <a:srgbClr val="2A7ADA"/>
          </a:solidFill>
          <a:ln>
            <a:solidFill>
              <a:srgbClr val="2A7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1581912"/>
            <a:ext cx="329184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700" b="1">
                <a:solidFill>
                  <a:srgbClr val="11224C"/>
                </a:solidFill>
                <a:latin typeface="Aptos"/>
              </a:defRPr>
            </a:pPr>
            <a:r>
              <a:t>METRICS TO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984248"/>
            <a:ext cx="3273552" cy="12618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300" b="0">
                <a:solidFill>
                  <a:srgbClr val="25334A"/>
                </a:solidFill>
                <a:latin typeface="Aptos"/>
              </a:defRPr>
            </a:pPr>
            <a:r>
              <a:t>Precision: how many flagged transactions were truly fraud?</a:t>
            </a:r>
            <a:br/>
            <a:r>
              <a:t>Recall: how much of all fraud did the model catch?</a:t>
            </a:r>
            <a:br/>
            <a:r>
              <a:t>F1-score: balance of precision and recall.</a:t>
            </a:r>
            <a:br/>
            <a:r>
              <a:t>PR-AUC: useful for imbalanced classification.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417320"/>
            <a:ext cx="676656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800" b="1">
                <a:solidFill>
                  <a:srgbClr val="11224C"/>
                </a:solidFill>
                <a:latin typeface="Aptos"/>
              </a:defRPr>
            </a:pPr>
            <a:r>
              <a:t>Illustrative model comparison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892108"/>
              </p:ext>
            </p:extLst>
          </p:nvPr>
        </p:nvGraphicFramePr>
        <p:xfrm>
          <a:off x="4343400" y="1783080"/>
          <a:ext cx="72694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85800" y="3840480"/>
            <a:ext cx="3200400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500" b="1">
                <a:solidFill>
                  <a:srgbClr val="11224C"/>
                </a:solidFill>
                <a:latin typeface="Aptos"/>
              </a:defRPr>
            </a:pPr>
            <a:r>
              <a:t>Example confusion matrix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85800" y="4160520"/>
          <a:ext cx="329184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1224C"/>
                          </a:solidFill>
                          <a:latin typeface="Aptos"/>
                        </a:defRPr>
                      </a:pPr>
                      <a:r>
                        <a:t>Actual / predicted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1224C"/>
                          </a:solidFill>
                          <a:latin typeface="Aptos"/>
                        </a:defRPr>
                      </a:pPr>
                      <a:r>
                        <a:t>Fraud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1224C"/>
                          </a:solidFill>
                          <a:latin typeface="Aptos"/>
                        </a:defRPr>
                      </a:pPr>
                      <a:r>
                        <a:t>Genuine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1224C"/>
                          </a:solidFill>
                          <a:latin typeface="Aptos"/>
                        </a:defRPr>
                      </a:pPr>
                      <a:r>
                        <a:t>Fraud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224C"/>
                          </a:solidFill>
                          <a:latin typeface="Aptos"/>
                        </a:defRPr>
                      </a:pPr>
                      <a:r>
                        <a:t>80 caught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224C"/>
                          </a:solidFill>
                          <a:latin typeface="Aptos"/>
                        </a:defRPr>
                      </a:pPr>
                      <a:r>
                        <a:t>20 missed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1224C"/>
                          </a:solidFill>
                          <a:latin typeface="Aptos"/>
                        </a:defRPr>
                      </a:pPr>
                      <a:r>
                        <a:t>Genuine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224C"/>
                          </a:solidFill>
                          <a:latin typeface="Aptos"/>
                        </a:defRPr>
                      </a:pPr>
                      <a:r>
                        <a:t>45 flagged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224C"/>
                          </a:solidFill>
                          <a:latin typeface="Aptos"/>
                        </a:defRPr>
                      </a:pPr>
                      <a:r>
                        <a:t>9,855 cleared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526280" y="5349240"/>
            <a:ext cx="676656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200" b="1">
                <a:solidFill>
                  <a:srgbClr val="DC4B59"/>
                </a:solidFill>
                <a:latin typeface="Aptos"/>
              </a:defRPr>
            </a:pPr>
            <a:r>
              <a:t>Always calculate metrics on held-out data and clearly label sample values.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24C"/>
          </a:solidFill>
          <a:ln>
            <a:solidFill>
              <a:srgbClr val="112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37160"/>
            <a:ext cx="54864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600" b="1">
                <a:solidFill>
                  <a:srgbClr val="37B8D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11480"/>
            <a:ext cx="11155680" cy="43891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Model Weights, Bias &amp; Experiment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06424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100" b="0">
                <a:solidFill>
                  <a:srgbClr val="DAE6F8"/>
                </a:solidFill>
                <a:latin typeface="Aptos"/>
              </a:defRPr>
            </a:pPr>
            <a:r>
              <a:t>Explain how a model learns and how experiments are compared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11155680" cy="16459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00" b="1">
                <a:solidFill>
                  <a:srgbClr val="5E6E85"/>
                </a:solidFill>
                <a:latin typeface="Aptos"/>
              </a:defRPr>
            </a:pPr>
            <a:r>
              <a:t>END-TO-END MACHINE LEARNING SYSTEM  •  DEPLOYMENT  •  MONITORING  • 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537960"/>
            <a:ext cx="228600" cy="1828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900" b="1">
                <a:solidFill>
                  <a:srgbClr val="5E6E85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82296" cy="2011680"/>
          </a:xfrm>
          <a:prstGeom prst="rect">
            <a:avLst/>
          </a:prstGeom>
          <a:solidFill>
            <a:srgbClr val="2A7ADA"/>
          </a:solidFill>
          <a:ln>
            <a:solidFill>
              <a:srgbClr val="2A7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1581912"/>
            <a:ext cx="310896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700" b="1">
                <a:solidFill>
                  <a:srgbClr val="11224C"/>
                </a:solidFill>
                <a:latin typeface="Aptos"/>
              </a:defRPr>
            </a:pPr>
            <a:r>
              <a:t>WEIGHTS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984248"/>
            <a:ext cx="3090672" cy="135331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500" b="0">
                <a:solidFill>
                  <a:srgbClr val="25334A"/>
                </a:solidFill>
                <a:latin typeface="Aptos"/>
              </a:defRPr>
            </a:pPr>
            <a:r>
              <a:t>Weights represent how strongly input features influence the prediction. Their meaning depends on the model and feature scaling.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417320"/>
            <a:ext cx="82296" cy="2011680"/>
          </a:xfrm>
          <a:prstGeom prst="rect">
            <a:avLst/>
          </a:prstGeom>
          <a:solidFill>
            <a:srgbClr val="7B56C9"/>
          </a:solidFill>
          <a:ln>
            <a:solidFill>
              <a:srgbClr val="7B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1581912"/>
            <a:ext cx="310896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700" b="1">
                <a:solidFill>
                  <a:srgbClr val="11224C"/>
                </a:solidFill>
                <a:latin typeface="Aptos"/>
              </a:defRPr>
            </a:pPr>
            <a:r>
              <a:t>BIAS / INTERCEPT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984248"/>
            <a:ext cx="3090672" cy="135331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500" b="0">
                <a:solidFill>
                  <a:srgbClr val="25334A"/>
                </a:solidFill>
                <a:latin typeface="Aptos"/>
              </a:defRPr>
            </a:pPr>
            <a:r>
              <a:t>The intercept shifts the model’s baseline score. Weights and intercept are learned from training data; they are not proof of causation.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41732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83879" y="1417320"/>
            <a:ext cx="82296" cy="2011680"/>
          </a:xfrm>
          <a:prstGeom prst="rect">
            <a:avLst/>
          </a:prstGeom>
          <a:solidFill>
            <a:srgbClr val="2AA073"/>
          </a:solidFill>
          <a:ln>
            <a:solidFill>
              <a:srgbClr val="2AA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85048" y="1581912"/>
            <a:ext cx="310896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700" b="1">
                <a:solidFill>
                  <a:srgbClr val="11224C"/>
                </a:solidFill>
                <a:latin typeface="Aptos"/>
              </a:defRPr>
            </a:pPr>
            <a:r>
              <a:t>EXPERIMENT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1984248"/>
            <a:ext cx="3090672" cy="135331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500" b="0">
                <a:solidFill>
                  <a:srgbClr val="25334A"/>
                </a:solidFill>
                <a:latin typeface="Aptos"/>
              </a:defRPr>
            </a:pPr>
            <a:r>
              <a:t>Record dataset version, split, model parameters, metrics, random seed, code commit and model version for each run.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794760"/>
            <a:ext cx="1069848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800" b="1">
                <a:solidFill>
                  <a:srgbClr val="11224C"/>
                </a:solidFill>
                <a:latin typeface="Aptos"/>
              </a:defRPr>
            </a:pPr>
            <a:r>
              <a:t>Example experiment log (illustrative)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85800" y="4206240"/>
          <a:ext cx="1078992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1224C"/>
                          </a:solidFill>
                          <a:latin typeface="Aptos"/>
                        </a:defRPr>
                      </a:pPr>
                      <a:r>
                        <a:t>Run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1224C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1224C"/>
                          </a:solidFill>
                          <a:latin typeface="Aptos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1224C"/>
                          </a:solidFill>
                          <a:latin typeface="Aptos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1224C"/>
                          </a:solidFill>
                          <a:latin typeface="Aptos"/>
                        </a:defRPr>
                      </a:pPr>
                      <a:r>
                        <a:t>Next step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334A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334A"/>
                          </a:solidFill>
                          <a:latin typeface="Aptos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334A"/>
                          </a:solidFill>
                          <a:latin typeface="Aptos"/>
                        </a:defRPr>
                      </a:pPr>
                      <a:r>
                        <a:t>0.71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334A"/>
                          </a:solidFill>
                          <a:latin typeface="Aptos"/>
                        </a:defRPr>
                      </a:pPr>
                      <a:r>
                        <a:t>0.62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334A"/>
                          </a:solidFill>
                          <a:latin typeface="Aptos"/>
                        </a:defRPr>
                      </a:pPr>
                      <a:r>
                        <a:t>Reference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334A"/>
                          </a:solidFill>
                          <a:latin typeface="Aptos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334A"/>
                          </a:solidFill>
                          <a:latin typeface="Aptos"/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334A"/>
                          </a:solidFill>
                          <a:latin typeface="Aptos"/>
                        </a:defRPr>
                      </a:pPr>
                      <a:r>
                        <a:t>0.54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334A"/>
                          </a:solidFill>
                          <a:latin typeface="Aptos"/>
                        </a:defRPr>
                      </a:pPr>
                      <a:r>
                        <a:t>0.78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334A"/>
                          </a:solidFill>
                          <a:latin typeface="Aptos"/>
                        </a:defRPr>
                      </a:pPr>
                      <a:r>
                        <a:t>Tune threshold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334A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334A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334A"/>
                          </a:solidFill>
                          <a:latin typeface="Aptos"/>
                        </a:defRPr>
                      </a:pPr>
                      <a:r>
                        <a:t>0.66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334A"/>
                          </a:solidFill>
                          <a:latin typeface="Aptos"/>
                        </a:defRPr>
                      </a:pPr>
                      <a:r>
                        <a:t>0.81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334A"/>
                          </a:solidFill>
                          <a:latin typeface="Aptos"/>
                        </a:defRPr>
                      </a:pPr>
                      <a:r>
                        <a:t>Validate further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24C"/>
          </a:solidFill>
          <a:ln>
            <a:solidFill>
              <a:srgbClr val="112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37160"/>
            <a:ext cx="54864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600" b="1">
                <a:solidFill>
                  <a:srgbClr val="37B8DC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11480"/>
            <a:ext cx="11155680" cy="43891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Deployment, CI/CD &amp;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06424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100" b="0">
                <a:solidFill>
                  <a:srgbClr val="DAE6F8"/>
                </a:solidFill>
                <a:latin typeface="Aptos"/>
              </a:defRPr>
            </a:pPr>
            <a:r>
              <a:t>Turn a trained model into a testable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11155680" cy="16459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00" b="1">
                <a:solidFill>
                  <a:srgbClr val="5E6E85"/>
                </a:solidFill>
                <a:latin typeface="Aptos"/>
              </a:defRPr>
            </a:pPr>
            <a:r>
              <a:t>END-TO-END MACHINE LEARNING SYSTEM  •  DEPLOYMENT  •  MONITORING  • 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537960"/>
            <a:ext cx="228600" cy="1828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900" b="1">
                <a:solidFill>
                  <a:srgbClr val="5E6E85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2880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A7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2121408"/>
            <a:ext cx="2103120" cy="25603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400" b="1">
                <a:solidFill>
                  <a:srgbClr val="11224C"/>
                </a:solidFill>
                <a:latin typeface="Aptos"/>
              </a:defRPr>
            </a:pPr>
            <a:r>
              <a:t>Client /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0088" y="2103120"/>
            <a:ext cx="41148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2200" b="1">
                <a:solidFill>
                  <a:srgbClr val="2A7AD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82880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B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84448" y="2121408"/>
            <a:ext cx="2103120" cy="25603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400" b="1">
                <a:solidFill>
                  <a:srgbClr val="11224C"/>
                </a:solidFill>
                <a:latin typeface="Aptos"/>
              </a:defRPr>
            </a:pPr>
            <a:r>
              <a:t>FastAPI endpoint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2103120"/>
            <a:ext cx="41148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2200" b="1">
                <a:solidFill>
                  <a:srgbClr val="2A7AD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82880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AA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64808" y="2121408"/>
            <a:ext cx="2103120" cy="25603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400" b="1">
                <a:solidFill>
                  <a:srgbClr val="11224C"/>
                </a:solidFill>
                <a:latin typeface="Aptos"/>
              </a:defRPr>
            </a:pPr>
            <a:r>
              <a:t>Preprocessing +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0808" y="2103120"/>
            <a:ext cx="41148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2200" b="1">
                <a:solidFill>
                  <a:srgbClr val="2A7AD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82880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B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45167" y="2121408"/>
            <a:ext cx="2103120" cy="25603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400" b="1">
                <a:solidFill>
                  <a:srgbClr val="11224C"/>
                </a:solidFill>
                <a:latin typeface="Aptos"/>
              </a:defRPr>
            </a:pPr>
            <a:r>
              <a:t>Prediction response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24612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4360" y="3246120"/>
            <a:ext cx="82296" cy="1965960"/>
          </a:xfrm>
          <a:prstGeom prst="rect">
            <a:avLst/>
          </a:prstGeom>
          <a:solidFill>
            <a:srgbClr val="2A7ADA"/>
          </a:solidFill>
          <a:ln>
            <a:solidFill>
              <a:srgbClr val="2A7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8" y="3410712"/>
            <a:ext cx="306324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700" b="1">
                <a:solidFill>
                  <a:srgbClr val="11224C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3813048"/>
            <a:ext cx="3044952" cy="130759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400" b="0">
                <a:solidFill>
                  <a:srgbClr val="25334A"/>
                </a:solidFill>
                <a:latin typeface="Aptos"/>
              </a:defRPr>
            </a:pPr>
            <a:r>
              <a:t>• Unit tests for preprocessing</a:t>
            </a:r>
            <a:br/>
            <a:r>
              <a:t>• API input validation</a:t>
            </a:r>
            <a:br/>
            <a:r>
              <a:t>• Prediction response tests</a:t>
            </a:r>
            <a:br/>
            <a:r>
              <a:t>• Check edge cases and failures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24612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89120" y="3246120"/>
            <a:ext cx="82296" cy="1965960"/>
          </a:xfrm>
          <a:prstGeom prst="rect">
            <a:avLst/>
          </a:prstGeom>
          <a:solidFill>
            <a:srgbClr val="2AA073"/>
          </a:solidFill>
          <a:ln>
            <a:solidFill>
              <a:srgbClr val="2AA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90288" y="3410712"/>
            <a:ext cx="306324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700" b="1">
                <a:solidFill>
                  <a:srgbClr val="11224C"/>
                </a:solidFill>
                <a:latin typeface="Aptos"/>
              </a:defRPr>
            </a:pPr>
            <a:r>
              <a:t>CI/CD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3813048"/>
            <a:ext cx="3044952" cy="130759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400" b="0">
                <a:solidFill>
                  <a:srgbClr val="25334A"/>
                </a:solidFill>
                <a:latin typeface="Aptos"/>
              </a:defRPr>
            </a:pPr>
            <a:r>
              <a:t>• GitHub Actions runs tests on changes</a:t>
            </a:r>
            <a:br/>
            <a:r>
              <a:t>• Build a Docker image</a:t>
            </a:r>
            <a:br/>
            <a:r>
              <a:t>• Deploy only if checks pass</a:t>
            </a:r>
            <a:br/>
            <a:r>
              <a:t>• Keep a rollback version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79" y="324612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83879" y="3246120"/>
            <a:ext cx="82296" cy="1965960"/>
          </a:xfrm>
          <a:prstGeom prst="rect">
            <a:avLst/>
          </a:prstGeom>
          <a:solidFill>
            <a:srgbClr val="7B56C9"/>
          </a:solidFill>
          <a:ln>
            <a:solidFill>
              <a:srgbClr val="7B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85048" y="3410712"/>
            <a:ext cx="306324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700" b="1">
                <a:solidFill>
                  <a:srgbClr val="11224C"/>
                </a:solidFill>
                <a:latin typeface="Aptos"/>
              </a:defRPr>
            </a:pPr>
            <a:r>
              <a:t>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8" y="3813048"/>
            <a:ext cx="3044952" cy="130759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400" b="0">
                <a:solidFill>
                  <a:srgbClr val="25334A"/>
                </a:solidFill>
                <a:latin typeface="Aptos"/>
              </a:defRPr>
            </a:pPr>
            <a:r>
              <a:t>Python • pandas • scikit-learn</a:t>
            </a:r>
            <a:br/>
            <a:r>
              <a:t>FastAPI • Docker • Git/GitHub</a:t>
            </a:r>
            <a:br/>
            <a:r>
              <a:t>Optional: cloud hosting and MLflow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715000"/>
            <a:ext cx="1060704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300" b="1">
                <a:solidFill>
                  <a:srgbClr val="DC4B59"/>
                </a:solidFill>
                <a:latin typeface="Aptos"/>
              </a:defRPr>
            </a:pPr>
            <a:r>
              <a:t>Never expose real payment details or credentials in code, logs, screenshots or public repositories.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24C"/>
          </a:solidFill>
          <a:ln>
            <a:solidFill>
              <a:srgbClr val="112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37160"/>
            <a:ext cx="54864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600" b="1">
                <a:solidFill>
                  <a:srgbClr val="37B8DC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11480"/>
            <a:ext cx="11155680" cy="43891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Monitoring &amp;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06424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100" b="0">
                <a:solidFill>
                  <a:srgbClr val="DAE6F8"/>
                </a:solidFill>
                <a:latin typeface="Aptos"/>
              </a:defRPr>
            </a:pPr>
            <a:r>
              <a:t>A production model can degrade as data and customer behavior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11155680" cy="16459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00" b="1">
                <a:solidFill>
                  <a:srgbClr val="5E6E85"/>
                </a:solidFill>
                <a:latin typeface="Aptos"/>
              </a:defRPr>
            </a:pPr>
            <a:r>
              <a:t>END-TO-END MACHINE LEARNING SYSTEM  •  DEPLOYMENT  •  MONITORING  • 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537960"/>
            <a:ext cx="228600" cy="1828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900" b="1">
                <a:solidFill>
                  <a:srgbClr val="5E6E85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82296" cy="1874519"/>
          </a:xfrm>
          <a:prstGeom prst="rect">
            <a:avLst/>
          </a:prstGeom>
          <a:solidFill>
            <a:srgbClr val="2A7ADA"/>
          </a:solidFill>
          <a:ln>
            <a:solidFill>
              <a:srgbClr val="2A7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1581912"/>
            <a:ext cx="310896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700" b="1">
                <a:solidFill>
                  <a:srgbClr val="11224C"/>
                </a:solidFill>
                <a:latin typeface="Aptos"/>
              </a:defRPr>
            </a:pPr>
            <a:r>
              <a:t>SERVICE 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984248"/>
            <a:ext cx="3090672" cy="1216151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500" b="0">
                <a:solidFill>
                  <a:srgbClr val="25334A"/>
                </a:solidFill>
                <a:latin typeface="Aptos"/>
              </a:defRPr>
            </a:pPr>
            <a:r>
              <a:t>Monitor request volume, latency, errors, timeouts and API availability.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417320"/>
            <a:ext cx="82296" cy="1874519"/>
          </a:xfrm>
          <a:prstGeom prst="rect">
            <a:avLst/>
          </a:prstGeom>
          <a:solidFill>
            <a:srgbClr val="7B56C9"/>
          </a:solidFill>
          <a:ln>
            <a:solidFill>
              <a:srgbClr val="7B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1581912"/>
            <a:ext cx="310896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700" b="1">
                <a:solidFill>
                  <a:srgbClr val="11224C"/>
                </a:solidFill>
                <a:latin typeface="Aptos"/>
              </a:defRPr>
            </a:pPr>
            <a:r>
              <a:t>DATA / MODEL DRIFT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984248"/>
            <a:ext cx="3090672" cy="1216151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500" b="0">
                <a:solidFill>
                  <a:srgbClr val="25334A"/>
                </a:solidFill>
                <a:latin typeface="Aptos"/>
              </a:defRPr>
            </a:pPr>
            <a:r>
              <a:t>Track changes in input distributions and prediction rates. Use labels later to check real performance.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41732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83879" y="1417320"/>
            <a:ext cx="82296" cy="1874519"/>
          </a:xfrm>
          <a:prstGeom prst="rect">
            <a:avLst/>
          </a:prstGeom>
          <a:solidFill>
            <a:srgbClr val="2AA073"/>
          </a:solidFill>
          <a:ln>
            <a:solidFill>
              <a:srgbClr val="2AA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85048" y="1581912"/>
            <a:ext cx="310896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700" b="1">
                <a:solidFill>
                  <a:srgbClr val="11224C"/>
                </a:solidFill>
                <a:latin typeface="Aptos"/>
              </a:defRPr>
            </a:pPr>
            <a:r>
              <a:t>MAINTENANCE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1984248"/>
            <a:ext cx="3090672" cy="1216151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400" b="0">
                <a:solidFill>
                  <a:srgbClr val="25334A"/>
                </a:solidFill>
                <a:latin typeface="Aptos"/>
              </a:defRPr>
            </a:pPr>
            <a:r>
              <a:t>Investigate alerts, review false positives and negatives, retrain only with validated data, and keep rollback available.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03320"/>
            <a:ext cx="1060704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800" b="1">
                <a:solidFill>
                  <a:srgbClr val="11224C"/>
                </a:solidFill>
                <a:latin typeface="Aptos"/>
              </a:defRPr>
            </a:pPr>
            <a:r>
              <a:t>Illustrative drift score over time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777240" y="4023360"/>
          <a:ext cx="640080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7543800" y="4160520"/>
            <a:ext cx="3931920" cy="1417320"/>
          </a:xfrm>
          <a:prstGeom prst="roundRect">
            <a:avLst/>
          </a:prstGeom>
          <a:solidFill>
            <a:srgbClr val="FFF7EB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543800" y="4160520"/>
            <a:ext cx="82296" cy="1417320"/>
          </a:xfrm>
          <a:prstGeom prst="rect">
            <a:avLst/>
          </a:prstGeom>
          <a:solidFill>
            <a:srgbClr val="EB9134"/>
          </a:solidFill>
          <a:ln>
            <a:solidFill>
              <a:srgbClr val="EB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44968" y="4325112"/>
            <a:ext cx="356616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700" b="1">
                <a:solidFill>
                  <a:srgbClr val="11224C"/>
                </a:solidFill>
                <a:latin typeface="Aptos"/>
              </a:defRPr>
            </a:pPr>
            <a:r>
              <a:t>ACTION RULE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4968" y="4727448"/>
            <a:ext cx="3547872" cy="75895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300" b="0">
                <a:solidFill>
                  <a:srgbClr val="25334A"/>
                </a:solidFill>
                <a:latin typeface="Aptos"/>
              </a:defRPr>
            </a:pPr>
            <a:r>
              <a:t>If drift crosses a documented threshold, investigate the cause. Drift alone does not automatically mean the model is inaccurate.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24C"/>
          </a:solidFill>
          <a:ln>
            <a:solidFill>
              <a:srgbClr val="112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37160"/>
            <a:ext cx="54864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600" b="1">
                <a:solidFill>
                  <a:srgbClr val="37B8DC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11480"/>
            <a:ext cx="11155680" cy="43891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Business Trade-offs &amp; Final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06424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100" b="0">
                <a:solidFill>
                  <a:srgbClr val="DAE6F8"/>
                </a:solidFill>
                <a:latin typeface="Aptos"/>
              </a:defRPr>
            </a:pPr>
            <a:r>
              <a:t>Communicate outcomes in terms that product and operations teams understand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11155680" cy="16459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00" b="1">
                <a:solidFill>
                  <a:srgbClr val="5E6E85"/>
                </a:solidFill>
                <a:latin typeface="Aptos"/>
              </a:defRPr>
            </a:pPr>
            <a:r>
              <a:t>END-TO-END MACHINE LEARNING SYSTEM  •  DEPLOYMENT  •  MONITORING  • 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537960"/>
            <a:ext cx="228600" cy="1828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900" b="1">
                <a:solidFill>
                  <a:srgbClr val="5E6E85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394960" cy="1965960"/>
          </a:xfrm>
          <a:prstGeom prst="roundRect">
            <a:avLst/>
          </a:prstGeom>
          <a:solidFill>
            <a:srgbClr val="FFF7EB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82296" cy="1965960"/>
          </a:xfrm>
          <a:prstGeom prst="rect">
            <a:avLst/>
          </a:prstGeom>
          <a:solidFill>
            <a:srgbClr val="EB9134"/>
          </a:solidFill>
          <a:ln>
            <a:solidFill>
              <a:srgbClr val="EB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1581912"/>
            <a:ext cx="502920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700" b="1">
                <a:solidFill>
                  <a:srgbClr val="11224C"/>
                </a:solidFill>
                <a:latin typeface="Aptos"/>
              </a:defRPr>
            </a:pPr>
            <a:r>
              <a:t>FALSE POSITIVE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984248"/>
            <a:ext cx="5010912" cy="130759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600" b="0">
                <a:solidFill>
                  <a:srgbClr val="25334A"/>
                </a:solidFill>
                <a:latin typeface="Aptos"/>
              </a:defRPr>
            </a:pPr>
            <a:r>
              <a:t>A genuine transaction is flagged as suspicious.</a:t>
            </a:r>
            <a:br/>
            <a:r>
              <a:t>Impact: customer friction, extra review work and possible lost sales.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440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82296" cy="1965960"/>
          </a:xfrm>
          <a:prstGeom prst="rect">
            <a:avLst/>
          </a:prstGeom>
          <a:solidFill>
            <a:srgbClr val="DC4B59"/>
          </a:solidFill>
          <a:ln>
            <a:solidFill>
              <a:srgbClr val="DC4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581912"/>
            <a:ext cx="507492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700" b="1">
                <a:solidFill>
                  <a:srgbClr val="11224C"/>
                </a:solidFill>
                <a:latin typeface="Aptos"/>
              </a:defRPr>
            </a:pPr>
            <a:r>
              <a:t>FALSE NEGATIVE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984248"/>
            <a:ext cx="5056632" cy="130759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600" b="0">
                <a:solidFill>
                  <a:srgbClr val="25334A"/>
                </a:solidFill>
                <a:latin typeface="Aptos"/>
              </a:defRPr>
            </a:pPr>
            <a:r>
              <a:t>A fraudulent transaction is missed.</a:t>
            </a:r>
            <a:br/>
            <a:r>
              <a:t>Impact: potential financial loss and customer harm.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03320"/>
            <a:ext cx="53949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3703320"/>
            <a:ext cx="82296" cy="1645920"/>
          </a:xfrm>
          <a:prstGeom prst="rect">
            <a:avLst/>
          </a:prstGeom>
          <a:solidFill>
            <a:srgbClr val="2A7ADA"/>
          </a:solidFill>
          <a:ln>
            <a:solidFill>
              <a:srgbClr val="2A7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4088" y="3867911"/>
            <a:ext cx="502920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700" b="1">
                <a:solidFill>
                  <a:srgbClr val="11224C"/>
                </a:solidFill>
                <a:latin typeface="Aptos"/>
              </a:defRPr>
            </a:pPr>
            <a:r>
              <a:t>GITHUB PORTFOLIO SHOULD INCLUDE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4270248"/>
            <a:ext cx="5010912" cy="98755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300" b="0">
                <a:solidFill>
                  <a:srgbClr val="25334A"/>
                </a:solidFill>
                <a:latin typeface="Aptos"/>
              </a:defRPr>
            </a:pPr>
            <a:r>
              <a:t>README • source citation • training pipeline • saved model • evaluation report • tests • API code • Dockerfile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03320"/>
            <a:ext cx="5440680" cy="1645920"/>
          </a:xfrm>
          <a:prstGeom prst="roundRect">
            <a:avLst/>
          </a:prstGeom>
          <a:solidFill>
            <a:srgbClr val="ECF9F3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3703320"/>
            <a:ext cx="82296" cy="1645920"/>
          </a:xfrm>
          <a:prstGeom prst="rect">
            <a:avLst/>
          </a:prstGeom>
          <a:solidFill>
            <a:srgbClr val="2AA073"/>
          </a:solidFill>
          <a:ln>
            <a:solidFill>
              <a:srgbClr val="2AA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19088" y="3867911"/>
            <a:ext cx="507492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700" b="1">
                <a:solidFill>
                  <a:srgbClr val="11224C"/>
                </a:solidFill>
                <a:latin typeface="Aptos"/>
              </a:defRPr>
            </a:pPr>
            <a:r>
              <a:t>WHAT YOU CAN DEMONSTRATE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4270248"/>
            <a:ext cx="5056632" cy="98755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300" b="0">
                <a:solidFill>
                  <a:srgbClr val="25334A"/>
                </a:solidFill>
                <a:latin typeface="Aptos"/>
              </a:defRPr>
            </a:pPr>
            <a:r>
              <a:t>Python/ML skills • evaluation judgment • API deployment • reproducibility • monitoring mindset • clear communication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669280"/>
            <a:ext cx="10698480" cy="475488"/>
          </a:xfrm>
          <a:prstGeom prst="roundRect">
            <a:avLst/>
          </a:prstGeom>
          <a:solidFill>
            <a:srgbClr val="11224C"/>
          </a:solidFill>
          <a:ln>
            <a:solidFill>
              <a:srgbClr val="112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5806440"/>
            <a:ext cx="10332720" cy="1828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From a trained model to a dependable machine learning service.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1062</Words>
  <Application>Microsoft Office PowerPoint</Application>
  <PresentationFormat>Widescreen</PresentationFormat>
  <Paragraphs>186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</dc:creator>
  <cp:keywords/>
  <dc:description>generated using python-pptx</dc:description>
  <cp:lastModifiedBy>Admin</cp:lastModifiedBy>
  <cp:revision>3</cp:revision>
  <dcterms:created xsi:type="dcterms:W3CDTF">2013-01-27T09:14:16Z</dcterms:created>
  <dcterms:modified xsi:type="dcterms:W3CDTF">2026-10-27T15:19:38Z</dcterms:modified>
  <cp:category/>
</cp:coreProperties>
</file>